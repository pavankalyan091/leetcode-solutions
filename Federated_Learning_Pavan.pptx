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EMERGING TECHNOLOGIES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AI for the Modern World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5029200" cy="36576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 Pavan Kalyan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|  </a:t>
            </a:r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College of Engineering &amp;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Federated Learning?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24128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is a machine learning approach where a model is trained across multiple decentralized devices or servers holding local data — without ever sharing raw data with a central server.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48840"/>
            <a:ext cx="411480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671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sent to central server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risks &amp; data breaches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bandwidth consumption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siloed across organizations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214884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148840"/>
            <a:ext cx="41148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671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local devices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preserved by design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model updates are shared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cross-organization AI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Federated Learning Work?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960120"/>
            <a:ext cx="777240" cy="7772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60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00200" y="1344168"/>
            <a:ext cx="4206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20240"/>
            <a:ext cx="1572768" cy="260604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99339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 Sent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14813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 distributes the initial global model to all selected edge devices (phones, hospitals, banks).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78024" y="960120"/>
            <a:ext cx="777240" cy="7772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960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00984" y="1344168"/>
            <a:ext cx="4206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66544" y="1920240"/>
            <a:ext cx="1572768" cy="260604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12264" y="199339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12264" y="2487168"/>
            <a:ext cx="14813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trains the model on its own private local data. Raw data NEVER leaves the device.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78808" y="960120"/>
            <a:ext cx="777240" cy="7772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8808" y="960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01768" y="1344168"/>
            <a:ext cx="4206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67328" y="1920240"/>
            <a:ext cx="1572768" cy="260604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13048" y="199339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Sharing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13048" y="2487168"/>
            <a:ext cx="14813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send only model gradients/weights — not raw data — back to the server.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79592" y="960120"/>
            <a:ext cx="777240" cy="7772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9592" y="960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702552" y="1344168"/>
            <a:ext cx="4206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68112" y="1920240"/>
            <a:ext cx="1572768" cy="260604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13832" y="199339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(FedAvg)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13832" y="2487168"/>
            <a:ext cx="14813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aggregates all updates using Federated Averaging to create an improved global model.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0376" y="960120"/>
            <a:ext cx="777240" cy="7772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0376" y="960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168896" y="1920240"/>
            <a:ext cx="1572768" cy="260604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14616" y="199339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14616" y="2487168"/>
            <a:ext cx="14813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global model is redistributed and the cycle continues until convergence.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Federated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784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536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features, different samples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share the same feature space but have different data samples. Most common type.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Multiple hospitals with same patient attributes (age, BP, glucose) but different patients.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060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6060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784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FL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73552" y="1536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samples, different 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938528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share the same sample IDs but have different features.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bank and an e-commerce platform share the same customer base but hold different attributes.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6060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60120"/>
            <a:ext cx="260604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9784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Transfer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08192" y="1536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samples &amp; features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938528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participants have neither the same samples nor the same feature space. Transfer learning bridges the gap.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Medical imaging model adapted across hospitals in different countries.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1828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Keyboards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(Gboard)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Next-word prediction model trained across millions of phones without sending keystrokes to Google.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06040" cy="1828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05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 &amp; Diagnostics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FLARE / Hospitals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train disease-detection models collaboratively without sharing confidential patient records.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06040" cy="1828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14400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005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Fraud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3716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Fintech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1600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train fraud models on transaction patterns across institutions without exposing customer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06040" cy="1828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17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Autonomous Vehicles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Tesla, BMW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6118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share driving scenario model updates — not sensor footage — to improve self-driving AI globally.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06040" cy="1828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017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Cybersecurity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share threat model insights without revealing proprietary network logs or attack patterns.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06040" cy="1828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26080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017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Recommendation Systems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36118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shopping recommendations trained on local purchase history without centralizing user data.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 &amp;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33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Algorithm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McMahan et al. (Google, 2017). Aggregates client model weights by a weighted average proportional to local dataset size. The backbone of most FL systems.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04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157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carefully calibrated noise to model updates so individual data records cannot be reverse-engineered from gradients — even by the server.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70332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764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Multi-Party Computation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0873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technique allowing multiple parties to jointly compute a function without revealing individual inputs. Ensures the aggregation server itself cannot spy on updates.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6012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033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Homomorphic Encryption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3441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computations on encrypted data. The server can aggregate encrypted gradients without decrypting them — mathematically proven privacy guarantee.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404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7157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sharing raw gradients, devices share compressed 'knowledge' via soft labels, reducing communication cost significantly.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0332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764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Learning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0873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is split between client and server. Client processes early layers locally; server processes later layers — combining efficiency and privacy.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3931920"/>
          </a:xfrm>
          <a:prstGeom prst="rect">
            <a:avLst/>
          </a:prstGeom>
          <a:solidFill>
            <a:srgbClr val="0D3B6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60520" cy="43891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" y="1481328"/>
            <a:ext cx="4005072" cy="54864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179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Strong privacy — raw data never leaves the device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" y="2103120"/>
            <a:ext cx="4005072" cy="54864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13969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Reduced bandwidth — only model updates transmitted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724912"/>
            <a:ext cx="4005072" cy="54864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7614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Enables AI on sensitive domains (medical, legal, finance)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" y="3346704"/>
            <a:ext cx="4005072" cy="54864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3832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Cross-organizational collaboration without legal hurdles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968496"/>
            <a:ext cx="4005072" cy="54864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40050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Works on edge devices with limited connectivity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4160520" cy="3931920"/>
          </a:xfrm>
          <a:prstGeom prst="rect">
            <a:avLst/>
          </a:prstGeom>
          <a:solidFill>
            <a:srgbClr val="0D3B6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960120"/>
            <a:ext cx="4160520" cy="438912"/>
          </a:xfrm>
          <a:prstGeom prst="rect">
            <a:avLst/>
          </a:prstGeom>
          <a:solidFill>
            <a:srgbClr val="450A0A"/>
          </a:solidFill>
          <a:ln w="12700">
            <a:solidFill>
              <a:srgbClr val="450A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98755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28032" y="1481328"/>
            <a:ext cx="4005072" cy="54864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5179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Communication overhead from repeated rounds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28032" y="2103120"/>
            <a:ext cx="4005072" cy="54864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13969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Non-IID data: each device has different data distribution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28032" y="2724912"/>
            <a:ext cx="4005072" cy="54864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7614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 Gradient inversion attacks can still leak partial data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28032" y="3346704"/>
            <a:ext cx="4005072" cy="54864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3832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System heterogeneity: varying device capabilities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28032" y="3968496"/>
            <a:ext cx="4005072" cy="54864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40050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Convergence is slower than centralized training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vs Traditional ML: Head-to-Head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286000" cy="420624"/>
          </a:xfrm>
          <a:prstGeom prst="rect">
            <a:avLst/>
          </a:prstGeom>
          <a:solidFill>
            <a:srgbClr val="0A162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9601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97480" y="960120"/>
            <a:ext cx="2834640" cy="420624"/>
          </a:xfrm>
          <a:prstGeom prst="rect">
            <a:avLst/>
          </a:prstGeom>
          <a:solidFill>
            <a:srgbClr val="0A162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70632" y="96012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32120" y="960120"/>
            <a:ext cx="2834640" cy="420624"/>
          </a:xfrm>
          <a:prstGeom prst="rect">
            <a:avLst/>
          </a:prstGeom>
          <a:solidFill>
            <a:srgbClr val="0A162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05272" y="96012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380744"/>
            <a:ext cx="2286000" cy="420624"/>
          </a:xfrm>
          <a:prstGeom prst="rect">
            <a:avLst/>
          </a:prstGeom>
          <a:solidFill>
            <a:srgbClr val="0D3B6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38074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97480" y="1380744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138074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Server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32120" y="1380744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5272" y="138074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on Edge Devices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1801368"/>
            <a:ext cx="2286000" cy="420624"/>
          </a:xfrm>
          <a:prstGeom prst="rect">
            <a:avLst/>
          </a:prstGeom>
          <a:solidFill>
            <a:srgbClr val="0D3B6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180136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97480" y="1801368"/>
            <a:ext cx="2834640" cy="420624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0632" y="180136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data exposed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32120" y="1801368"/>
            <a:ext cx="2834640" cy="420624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05272" y="180136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data never shared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2221992"/>
            <a:ext cx="2286000" cy="420624"/>
          </a:xfrm>
          <a:prstGeom prst="rect">
            <a:avLst/>
          </a:prstGeom>
          <a:solidFill>
            <a:srgbClr val="0D3B6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222199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Use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697480" y="2221992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0632" y="222199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(full dataset transfer)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32120" y="2221992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5272" y="222199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(only gradients)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2642616"/>
            <a:ext cx="2286000" cy="420624"/>
          </a:xfrm>
          <a:prstGeom prst="rect">
            <a:avLst/>
          </a:prstGeom>
          <a:solidFill>
            <a:srgbClr val="0D3B6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264261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697480" y="2642616"/>
            <a:ext cx="2834640" cy="420624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264261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 (GDPR, HIPAA)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532120" y="2642616"/>
            <a:ext cx="2834640" cy="420624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05272" y="264261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by design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11480" y="3063240"/>
            <a:ext cx="2286000" cy="420624"/>
          </a:xfrm>
          <a:prstGeom prst="rect">
            <a:avLst/>
          </a:prstGeom>
          <a:solidFill>
            <a:srgbClr val="0D3B6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306324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697480" y="3063240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70632" y="306324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(all data together)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532120" y="3063240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05272" y="306324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(communication rounds)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11480" y="3483864"/>
            <a:ext cx="2286000" cy="420624"/>
          </a:xfrm>
          <a:prstGeom prst="rect">
            <a:avLst/>
          </a:prstGeom>
          <a:solidFill>
            <a:srgbClr val="0D3B6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" y="348386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697480" y="3483864"/>
            <a:ext cx="2834640" cy="420624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70632" y="348386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higher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532120" y="3483864"/>
            <a:ext cx="2834640" cy="420624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05272" y="348386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with right tuning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11480" y="3904488"/>
            <a:ext cx="2286000" cy="420624"/>
          </a:xfrm>
          <a:prstGeom prst="rect">
            <a:avLst/>
          </a:prstGeom>
          <a:solidFill>
            <a:srgbClr val="0D3B6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" y="390448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Sensitive Domains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697480" y="3904488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70632" y="39044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532120" y="3904488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05272" y="39044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Tools &amp; Frameworks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1828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Federated (TFF)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Google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22860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framework by Google. Used for Gboard's keyboard prediction. Supports both simulation and production deployments.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06040" cy="1828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9875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PySyft + PyGrid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3533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OpenMined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618488"/>
            <a:ext cx="22860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691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for encrypted, privacy-preserving ML on top of PyTorch. Supports differential privacy and SMPC.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06040" cy="1828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9875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3533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WeBank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618488"/>
            <a:ext cx="22860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691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AI Technology Enabler. Enterprise-grade platform for industrial federated learning with support for vertical and horizontal FL.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06040" cy="1828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9992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FLARE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3649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NVIDIA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22860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033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medical imaging. Used across top hospitals and research institutions for collaborative diagnostic AI.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06040" cy="1828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29992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(flwr)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3649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Adap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3630168"/>
            <a:ext cx="22860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7033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Framework-agnostic: works with TensorFlow, PyTorch, and more. Ideal for research and prototyping FL algorithms quickly.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06040" cy="1828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29992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6480" y="33649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FedML Inc.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630168"/>
            <a:ext cx="22860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7033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on-device training, GPU clusters, and cloud. Has a MLOps dashboard and community benchmark suite.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Federated Learning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943600" cy="713232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05840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Cross-silo FL at scale — entire industries (pharma, banking) sharing AI insights across organizations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5943600" cy="713232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10512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FL + Large Language Models — fine-tuning LLMs on private enterprise data without data ever leaving premises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69464"/>
            <a:ext cx="5943600" cy="713232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615184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6G Networks — ultra-low latency communication rounds making real-time federated training viable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374136"/>
            <a:ext cx="5943600" cy="713232"/>
          </a:xfrm>
          <a:prstGeom prst="rect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419856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Regulatory Tailwind — GDPR, HIPAA, and India's DPDP Act are pushing adoption of privacy-first AI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279392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is not just a technique — it is the foundation of responsible, scalable, privacy-first AI for the next decade.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Federated Learning: Privacy-Preserving AI</dc:title>
  <dc:subject>PptxGenJS Presentation</dc:subject>
  <dc:creator>Pula Pavan Kalyan</dc:creator>
  <cp:lastModifiedBy>Pula Pavan Kalyan</cp:lastModifiedBy>
  <cp:revision>1</cp:revision>
  <dcterms:created xsi:type="dcterms:W3CDTF">2026-04-17T07:14:37Z</dcterms:created>
  <dcterms:modified xsi:type="dcterms:W3CDTF">2026-04-17T07:14:37Z</dcterms:modified>
</cp:coreProperties>
</file>